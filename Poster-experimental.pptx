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3"/>
  </p:notesMasterIdLst>
  <p:sldIdLst>
    <p:sldId id="258" r:id="rId2"/>
  </p:sldIdLst>
  <p:sldSz cx="21383625" cy="15119350"/>
  <p:notesSz cx="6858000" cy="9144000"/>
  <p:embeddedFontLst>
    <p:embeddedFont>
      <p:font typeface="Cambria Math" panose="02040503050406030204" pitchFamily="18" charset="0"/>
      <p:regular r:id="rId4"/>
    </p:embeddedFont>
    <p:embeddedFont>
      <p:font typeface="Libre Baskerville" panose="02000000000000000000" pitchFamily="2" charset="0"/>
      <p:regular r:id="rId5"/>
      <p:bold r:id="rId6"/>
      <p:italic r:id="rId7"/>
    </p:embeddedFont>
    <p:embeddedFont>
      <p:font typeface="Montserrat Light" panose="00000400000000000000" pitchFamily="2" charset="0"/>
      <p:regular r:id="rId8"/>
      <p:italic r:id="rId9"/>
    </p:embeddedFont>
    <p:embeddedFont>
      <p:font typeface="Source Sans 3" panose="020B0303030403020204" pitchFamily="34" charset="0"/>
      <p:regular r:id="rId10"/>
      <p:bold r:id="rId11"/>
      <p:italic r:id="rId12"/>
      <p:boldItalic r:id="rId13"/>
    </p:embeddedFont>
  </p:embeddedFontLst>
  <p:custDataLst>
    <p:tags r:id="rId14"/>
  </p:custDataLst>
  <p:defaultTextStyle>
    <a:defPPr>
      <a:defRPr lang="en-US"/>
    </a:defPPr>
    <a:lvl1pPr marL="0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1pPr>
    <a:lvl2pPr marL="1112285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2pPr>
    <a:lvl3pPr marL="2224570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3pPr>
    <a:lvl4pPr marL="3336855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4pPr>
    <a:lvl5pPr marL="4449139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5pPr>
    <a:lvl6pPr marL="5561425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6pPr>
    <a:lvl7pPr marL="6673710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7pPr>
    <a:lvl8pPr marL="7785995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8pPr>
    <a:lvl9pPr marL="8898280" algn="l" defTabSz="2224570" rtl="0" eaLnBrk="1" latinLnBrk="0" hangingPunct="1">
      <a:defRPr sz="4372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72AFD2C-8292-46AC-9436-2404B6976893}">
          <p14:sldIdLst/>
        </p14:section>
        <p14:section name="Untitled Section" id="{49C00282-F1C7-449A-8D3E-1D97CA336BFF}">
          <p14:sldIdLst/>
        </p14:section>
        <p14:section name="Untitled Section" id="{95F8C35F-604F-42D7-B40D-1BE1A45F4F7C}">
          <p14:sldIdLst>
            <p14:sldId id="25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762" userDrawn="1">
          <p15:clr>
            <a:srgbClr val="A4A3A4"/>
          </p15:clr>
        </p15:guide>
        <p15:guide id="2" pos="673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6163" autoAdjust="0"/>
  </p:normalViewPr>
  <p:slideViewPr>
    <p:cSldViewPr>
      <p:cViewPr>
        <p:scale>
          <a:sx n="66" d="100"/>
          <a:sy n="66" d="100"/>
        </p:scale>
        <p:origin x="414" y="-42"/>
      </p:cViewPr>
      <p:guideLst>
        <p:guide orient="horz" pos="4762"/>
        <p:guide pos="673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presProps" Target="pres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C7FAC8-84B1-42FD-8D12-B3EFCEFF6C06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4888" y="685800"/>
            <a:ext cx="48482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3FBA2C-AFB3-486F-B4F5-004FBC2CA1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161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1pPr>
    <a:lvl2pPr marL="1112285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2pPr>
    <a:lvl3pPr marL="2224570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3pPr>
    <a:lvl4pPr marL="3336855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4pPr>
    <a:lvl5pPr marL="4449139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5pPr>
    <a:lvl6pPr marL="5561425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6pPr>
    <a:lvl7pPr marL="6673710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7pPr>
    <a:lvl8pPr marL="7785995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8pPr>
    <a:lvl9pPr marL="8898280" algn="l" defTabSz="2224570" rtl="0" eaLnBrk="1" latinLnBrk="0" hangingPunct="1">
      <a:defRPr sz="28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004888" y="685800"/>
            <a:ext cx="4848225" cy="3429000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3FBA2C-AFB3-486F-B4F5-004FBC2CA11C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267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696800"/>
            <a:ext cx="18176082" cy="324086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7545" y="8567632"/>
            <a:ext cx="14968537" cy="386383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1519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30380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34557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46076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5759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69114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80633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9215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64091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812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159" y="9715584"/>
            <a:ext cx="18176082" cy="3002871"/>
          </a:xfrm>
        </p:spPr>
        <p:txBody>
          <a:bodyPr anchor="t"/>
          <a:lstStyle>
            <a:lvl1pPr algn="l">
              <a:defRPr sz="10088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159" y="6408228"/>
            <a:ext cx="18176082" cy="3307357"/>
          </a:xfrm>
        </p:spPr>
        <p:txBody>
          <a:bodyPr anchor="b"/>
          <a:lstStyle>
            <a:lvl1pPr marL="0" indent="0">
              <a:buNone/>
              <a:defRPr sz="5019">
                <a:solidFill>
                  <a:schemeClr val="tx1">
                    <a:tint val="75000"/>
                  </a:schemeClr>
                </a:solidFill>
              </a:defRPr>
            </a:lvl1pPr>
            <a:lvl2pPr marL="1151901" indent="0">
              <a:buNone/>
              <a:defRPr sz="4527">
                <a:solidFill>
                  <a:schemeClr val="tx1">
                    <a:tint val="75000"/>
                  </a:schemeClr>
                </a:solidFill>
              </a:defRPr>
            </a:lvl2pPr>
            <a:lvl3pPr marL="2303801" indent="0">
              <a:buNone/>
              <a:defRPr sz="4035">
                <a:solidFill>
                  <a:schemeClr val="tx1">
                    <a:tint val="75000"/>
                  </a:schemeClr>
                </a:solidFill>
              </a:defRPr>
            </a:lvl3pPr>
            <a:lvl4pPr marL="3455702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4pPr>
            <a:lvl5pPr marL="4607602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5pPr>
            <a:lvl6pPr marL="5759503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6pPr>
            <a:lvl7pPr marL="6911403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7pPr>
            <a:lvl8pPr marL="8063303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8pPr>
            <a:lvl9pPr marL="9215204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735186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88160" y="15805321"/>
            <a:ext cx="53707797" cy="44703580"/>
          </a:xfrm>
        </p:spPr>
        <p:txBody>
          <a:bodyPr/>
          <a:lstStyle>
            <a:lvl1pPr>
              <a:defRPr sz="7037"/>
            </a:lvl1pPr>
            <a:lvl2pPr>
              <a:defRPr sz="6052"/>
            </a:lvl2pPr>
            <a:lvl3pPr>
              <a:defRPr sz="5019"/>
            </a:lvl3pPr>
            <a:lvl4pPr>
              <a:defRPr sz="4527"/>
            </a:lvl4pPr>
            <a:lvl5pPr>
              <a:defRPr sz="4527"/>
            </a:lvl5pPr>
            <a:lvl6pPr>
              <a:defRPr sz="4527"/>
            </a:lvl6pPr>
            <a:lvl7pPr>
              <a:defRPr sz="4527"/>
            </a:lvl7pPr>
            <a:lvl8pPr>
              <a:defRPr sz="4527"/>
            </a:lvl8pPr>
            <a:lvl9pPr>
              <a:defRPr sz="45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052351" y="15805321"/>
            <a:ext cx="53707797" cy="44703580"/>
          </a:xfrm>
        </p:spPr>
        <p:txBody>
          <a:bodyPr/>
          <a:lstStyle>
            <a:lvl1pPr>
              <a:defRPr sz="7037"/>
            </a:lvl1pPr>
            <a:lvl2pPr>
              <a:defRPr sz="6052"/>
            </a:lvl2pPr>
            <a:lvl3pPr>
              <a:defRPr sz="5019"/>
            </a:lvl3pPr>
            <a:lvl4pPr>
              <a:defRPr sz="4527"/>
            </a:lvl4pPr>
            <a:lvl5pPr>
              <a:defRPr sz="4527"/>
            </a:lvl5pPr>
            <a:lvl6pPr>
              <a:defRPr sz="4527"/>
            </a:lvl6pPr>
            <a:lvl7pPr>
              <a:defRPr sz="4527"/>
            </a:lvl7pPr>
            <a:lvl8pPr>
              <a:defRPr sz="4527"/>
            </a:lvl8pPr>
            <a:lvl9pPr>
              <a:defRPr sz="45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34852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182" y="605475"/>
            <a:ext cx="19245262" cy="2519892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182" y="3384356"/>
            <a:ext cx="9448148" cy="1410438"/>
          </a:xfrm>
        </p:spPr>
        <p:txBody>
          <a:bodyPr anchor="b"/>
          <a:lstStyle>
            <a:lvl1pPr marL="0" indent="0">
              <a:buNone/>
              <a:defRPr sz="6052" b="1"/>
            </a:lvl1pPr>
            <a:lvl2pPr marL="1151901" indent="0">
              <a:buNone/>
              <a:defRPr sz="5019" b="1"/>
            </a:lvl2pPr>
            <a:lvl3pPr marL="2303801" indent="0">
              <a:buNone/>
              <a:defRPr sz="4527" b="1"/>
            </a:lvl3pPr>
            <a:lvl4pPr marL="3455702" indent="0">
              <a:buNone/>
              <a:defRPr sz="4035" b="1"/>
            </a:lvl4pPr>
            <a:lvl5pPr marL="4607602" indent="0">
              <a:buNone/>
              <a:defRPr sz="4035" b="1"/>
            </a:lvl5pPr>
            <a:lvl6pPr marL="5759503" indent="0">
              <a:buNone/>
              <a:defRPr sz="4035" b="1"/>
            </a:lvl6pPr>
            <a:lvl7pPr marL="6911403" indent="0">
              <a:buNone/>
              <a:defRPr sz="4035" b="1"/>
            </a:lvl7pPr>
            <a:lvl8pPr marL="8063303" indent="0">
              <a:buNone/>
              <a:defRPr sz="4035" b="1"/>
            </a:lvl8pPr>
            <a:lvl9pPr marL="9215204" indent="0">
              <a:buNone/>
              <a:defRPr sz="40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182" y="4794794"/>
            <a:ext cx="9448148" cy="8711126"/>
          </a:xfrm>
        </p:spPr>
        <p:txBody>
          <a:bodyPr/>
          <a:lstStyle>
            <a:lvl1pPr>
              <a:defRPr sz="6052"/>
            </a:lvl1pPr>
            <a:lvl2pPr>
              <a:defRPr sz="5019"/>
            </a:lvl2pPr>
            <a:lvl3pPr>
              <a:defRPr sz="4527"/>
            </a:lvl3pPr>
            <a:lvl4pPr>
              <a:defRPr sz="4035"/>
            </a:lvl4pPr>
            <a:lvl5pPr>
              <a:defRPr sz="4035"/>
            </a:lvl5pPr>
            <a:lvl6pPr>
              <a:defRPr sz="4035"/>
            </a:lvl6pPr>
            <a:lvl7pPr>
              <a:defRPr sz="4035"/>
            </a:lvl7pPr>
            <a:lvl8pPr>
              <a:defRPr sz="4035"/>
            </a:lvl8pPr>
            <a:lvl9pPr>
              <a:defRPr sz="40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2587" y="3384356"/>
            <a:ext cx="9451859" cy="1410438"/>
          </a:xfrm>
        </p:spPr>
        <p:txBody>
          <a:bodyPr anchor="b"/>
          <a:lstStyle>
            <a:lvl1pPr marL="0" indent="0">
              <a:buNone/>
              <a:defRPr sz="6052" b="1"/>
            </a:lvl1pPr>
            <a:lvl2pPr marL="1151901" indent="0">
              <a:buNone/>
              <a:defRPr sz="5019" b="1"/>
            </a:lvl2pPr>
            <a:lvl3pPr marL="2303801" indent="0">
              <a:buNone/>
              <a:defRPr sz="4527" b="1"/>
            </a:lvl3pPr>
            <a:lvl4pPr marL="3455702" indent="0">
              <a:buNone/>
              <a:defRPr sz="4035" b="1"/>
            </a:lvl4pPr>
            <a:lvl5pPr marL="4607602" indent="0">
              <a:buNone/>
              <a:defRPr sz="4035" b="1"/>
            </a:lvl5pPr>
            <a:lvl6pPr marL="5759503" indent="0">
              <a:buNone/>
              <a:defRPr sz="4035" b="1"/>
            </a:lvl6pPr>
            <a:lvl7pPr marL="6911403" indent="0">
              <a:buNone/>
              <a:defRPr sz="4035" b="1"/>
            </a:lvl7pPr>
            <a:lvl8pPr marL="8063303" indent="0">
              <a:buNone/>
              <a:defRPr sz="4035" b="1"/>
            </a:lvl8pPr>
            <a:lvl9pPr marL="9215204" indent="0">
              <a:buNone/>
              <a:defRPr sz="4035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2587" y="4794794"/>
            <a:ext cx="9451859" cy="8711126"/>
          </a:xfrm>
        </p:spPr>
        <p:txBody>
          <a:bodyPr/>
          <a:lstStyle>
            <a:lvl1pPr>
              <a:defRPr sz="6052"/>
            </a:lvl1pPr>
            <a:lvl2pPr>
              <a:defRPr sz="5019"/>
            </a:lvl2pPr>
            <a:lvl3pPr>
              <a:defRPr sz="4527"/>
            </a:lvl3pPr>
            <a:lvl4pPr>
              <a:defRPr sz="4035"/>
            </a:lvl4pPr>
            <a:lvl5pPr>
              <a:defRPr sz="4035"/>
            </a:lvl5pPr>
            <a:lvl6pPr>
              <a:defRPr sz="4035"/>
            </a:lvl6pPr>
            <a:lvl7pPr>
              <a:defRPr sz="4035"/>
            </a:lvl7pPr>
            <a:lvl8pPr>
              <a:defRPr sz="4035"/>
            </a:lvl8pPr>
            <a:lvl9pPr>
              <a:defRPr sz="403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7011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3633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954017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183" y="601974"/>
            <a:ext cx="7035066" cy="2561890"/>
          </a:xfrm>
        </p:spPr>
        <p:txBody>
          <a:bodyPr anchor="b"/>
          <a:lstStyle>
            <a:lvl1pPr algn="l">
              <a:defRPr sz="501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0403" y="601976"/>
            <a:ext cx="11954040" cy="12903946"/>
          </a:xfrm>
        </p:spPr>
        <p:txBody>
          <a:bodyPr/>
          <a:lstStyle>
            <a:lvl1pPr>
              <a:defRPr sz="8070"/>
            </a:lvl1pPr>
            <a:lvl2pPr>
              <a:defRPr sz="7037"/>
            </a:lvl2pPr>
            <a:lvl3pPr>
              <a:defRPr sz="6052"/>
            </a:lvl3pPr>
            <a:lvl4pPr>
              <a:defRPr sz="5019"/>
            </a:lvl4pPr>
            <a:lvl5pPr>
              <a:defRPr sz="5019"/>
            </a:lvl5pPr>
            <a:lvl6pPr>
              <a:defRPr sz="5019"/>
            </a:lvl6pPr>
            <a:lvl7pPr>
              <a:defRPr sz="5019"/>
            </a:lvl7pPr>
            <a:lvl8pPr>
              <a:defRPr sz="5019"/>
            </a:lvl8pPr>
            <a:lvl9pPr>
              <a:defRPr sz="501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183" y="3163866"/>
            <a:ext cx="7035066" cy="10342057"/>
          </a:xfrm>
        </p:spPr>
        <p:txBody>
          <a:bodyPr/>
          <a:lstStyle>
            <a:lvl1pPr marL="0" indent="0">
              <a:buNone/>
              <a:defRPr sz="3543"/>
            </a:lvl1pPr>
            <a:lvl2pPr marL="1151901" indent="0">
              <a:buNone/>
              <a:defRPr sz="3002"/>
            </a:lvl2pPr>
            <a:lvl3pPr marL="2303801" indent="0">
              <a:buNone/>
              <a:defRPr sz="2510"/>
            </a:lvl3pPr>
            <a:lvl4pPr marL="3455702" indent="0">
              <a:buNone/>
              <a:defRPr sz="2263"/>
            </a:lvl4pPr>
            <a:lvl5pPr marL="4607602" indent="0">
              <a:buNone/>
              <a:defRPr sz="2263"/>
            </a:lvl5pPr>
            <a:lvl6pPr marL="5759503" indent="0">
              <a:buNone/>
              <a:defRPr sz="2263"/>
            </a:lvl6pPr>
            <a:lvl7pPr marL="6911403" indent="0">
              <a:buNone/>
              <a:defRPr sz="2263"/>
            </a:lvl7pPr>
            <a:lvl8pPr marL="8063303" indent="0">
              <a:buNone/>
              <a:defRPr sz="2263"/>
            </a:lvl8pPr>
            <a:lvl9pPr marL="9215204" indent="0">
              <a:buNone/>
              <a:defRPr sz="2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6036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341" y="10583545"/>
            <a:ext cx="12830175" cy="1249448"/>
          </a:xfrm>
        </p:spPr>
        <p:txBody>
          <a:bodyPr anchor="b"/>
          <a:lstStyle>
            <a:lvl1pPr algn="l">
              <a:defRPr sz="501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341" y="1350943"/>
            <a:ext cx="12830175" cy="9071610"/>
          </a:xfrm>
        </p:spPr>
        <p:txBody>
          <a:bodyPr/>
          <a:lstStyle>
            <a:lvl1pPr marL="0" indent="0">
              <a:buNone/>
              <a:defRPr sz="8070"/>
            </a:lvl1pPr>
            <a:lvl2pPr marL="1151901" indent="0">
              <a:buNone/>
              <a:defRPr sz="7037"/>
            </a:lvl2pPr>
            <a:lvl3pPr marL="2303801" indent="0">
              <a:buNone/>
              <a:defRPr sz="6052"/>
            </a:lvl3pPr>
            <a:lvl4pPr marL="3455702" indent="0">
              <a:buNone/>
              <a:defRPr sz="5019"/>
            </a:lvl4pPr>
            <a:lvl5pPr marL="4607602" indent="0">
              <a:buNone/>
              <a:defRPr sz="5019"/>
            </a:lvl5pPr>
            <a:lvl6pPr marL="5759503" indent="0">
              <a:buNone/>
              <a:defRPr sz="5019"/>
            </a:lvl6pPr>
            <a:lvl7pPr marL="6911403" indent="0">
              <a:buNone/>
              <a:defRPr sz="5019"/>
            </a:lvl7pPr>
            <a:lvl8pPr marL="8063303" indent="0">
              <a:buNone/>
              <a:defRPr sz="5019"/>
            </a:lvl8pPr>
            <a:lvl9pPr marL="9215204" indent="0">
              <a:buNone/>
              <a:defRPr sz="501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341" y="11832992"/>
            <a:ext cx="12830175" cy="1774422"/>
          </a:xfrm>
        </p:spPr>
        <p:txBody>
          <a:bodyPr/>
          <a:lstStyle>
            <a:lvl1pPr marL="0" indent="0">
              <a:buNone/>
              <a:defRPr sz="3543"/>
            </a:lvl1pPr>
            <a:lvl2pPr marL="1151901" indent="0">
              <a:buNone/>
              <a:defRPr sz="3002"/>
            </a:lvl2pPr>
            <a:lvl3pPr marL="2303801" indent="0">
              <a:buNone/>
              <a:defRPr sz="2510"/>
            </a:lvl3pPr>
            <a:lvl4pPr marL="3455702" indent="0">
              <a:buNone/>
              <a:defRPr sz="2263"/>
            </a:lvl4pPr>
            <a:lvl5pPr marL="4607602" indent="0">
              <a:buNone/>
              <a:defRPr sz="2263"/>
            </a:lvl5pPr>
            <a:lvl6pPr marL="5759503" indent="0">
              <a:buNone/>
              <a:defRPr sz="2263"/>
            </a:lvl6pPr>
            <a:lvl7pPr marL="6911403" indent="0">
              <a:buNone/>
              <a:defRPr sz="2263"/>
            </a:lvl7pPr>
            <a:lvl8pPr marL="8063303" indent="0">
              <a:buNone/>
              <a:defRPr sz="2263"/>
            </a:lvl8pPr>
            <a:lvl9pPr marL="9215204" indent="0">
              <a:buNone/>
              <a:defRPr sz="22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9525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525940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19001" y="2712387"/>
            <a:ext cx="26941141" cy="5779651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88161" y="2712387"/>
            <a:ext cx="80474452" cy="5779651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EB5E-FACB-4280-8722-AA5C3AB4157E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A1FD6-FC52-4ED5-A8CB-0DF551B71C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2858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182" y="605475"/>
            <a:ext cx="19245262" cy="2519892"/>
          </a:xfrm>
          <a:prstGeom prst="rect">
            <a:avLst/>
          </a:prstGeom>
        </p:spPr>
        <p:txBody>
          <a:bodyPr vert="horz" lIns="468173" tIns="234086" rIns="468173" bIns="234086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182" y="3527852"/>
            <a:ext cx="19245262" cy="9978071"/>
          </a:xfrm>
          <a:prstGeom prst="rect">
            <a:avLst/>
          </a:prstGeom>
        </p:spPr>
        <p:txBody>
          <a:bodyPr vert="horz" lIns="468173" tIns="234086" rIns="468173" bIns="234086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9182" y="14013400"/>
            <a:ext cx="4989513" cy="804965"/>
          </a:xfrm>
          <a:prstGeom prst="rect">
            <a:avLst/>
          </a:prstGeom>
        </p:spPr>
        <p:txBody>
          <a:bodyPr vert="horz" lIns="468173" tIns="234086" rIns="468173" bIns="234086" rtlCol="0" anchor="ctr"/>
          <a:lstStyle>
            <a:lvl1pPr algn="l">
              <a:defRPr sz="30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EEB5E-FACB-4280-8722-AA5C3AB4157E}" type="datetimeFigureOut">
              <a:rPr lang="en-US" smtClean="0"/>
              <a:t>12/15/2025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306073" y="14013400"/>
            <a:ext cx="6771481" cy="804965"/>
          </a:xfrm>
          <a:prstGeom prst="rect">
            <a:avLst/>
          </a:prstGeom>
        </p:spPr>
        <p:txBody>
          <a:bodyPr vert="horz" lIns="468173" tIns="234086" rIns="468173" bIns="234086" rtlCol="0" anchor="ctr"/>
          <a:lstStyle>
            <a:lvl1pPr algn="ctr">
              <a:defRPr sz="30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324932" y="14013400"/>
            <a:ext cx="4989513" cy="804965"/>
          </a:xfrm>
          <a:prstGeom prst="rect">
            <a:avLst/>
          </a:prstGeom>
        </p:spPr>
        <p:txBody>
          <a:bodyPr vert="horz" lIns="468173" tIns="234086" rIns="468173" bIns="234086" rtlCol="0" anchor="ctr"/>
          <a:lstStyle>
            <a:lvl1pPr algn="r">
              <a:defRPr sz="300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A1FD6-FC52-4ED5-A8CB-0DF551B71C7B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5196283" y="7504758"/>
            <a:ext cx="6556385" cy="1918091"/>
          </a:xfrm>
          <a:prstGeom prst="rect">
            <a:avLst/>
          </a:prstGeom>
        </p:spPr>
      </p:pic>
      <p:pic>
        <p:nvPicPr>
          <p:cNvPr id="8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20023524" y="7504758"/>
            <a:ext cx="6556385" cy="1918091"/>
          </a:xfrm>
          <a:prstGeom prst="rect">
            <a:avLst/>
          </a:prstGeom>
        </p:spPr>
      </p:pic>
      <p:pic>
        <p:nvPicPr>
          <p:cNvPr id="9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3384504" y="15352675"/>
            <a:ext cx="14614619" cy="664971"/>
          </a:xfrm>
          <a:prstGeom prst="rect">
            <a:avLst/>
          </a:prstGeom>
        </p:spPr>
      </p:pic>
      <p:sp>
        <p:nvSpPr>
          <p:cNvPr id="10" name="New shape"/>
          <p:cNvSpPr/>
          <p:nvPr/>
        </p:nvSpPr>
        <p:spPr>
          <a:xfrm>
            <a:off x="3384504" y="15615162"/>
            <a:ext cx="10691813" cy="58330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2094" dirty="0">
                <a:solidFill>
                  <a:srgbClr val="808080"/>
                </a:solidFill>
              </a:rPr>
              <a:t>Template ID: </a:t>
            </a:r>
            <a:r>
              <a:rPr sz="2094" dirty="0" err="1">
                <a:solidFill>
                  <a:srgbClr val="808080"/>
                </a:solidFill>
              </a:rPr>
              <a:t>speculativestone</a:t>
            </a:r>
            <a:r>
              <a:rPr sz="2094" dirty="0">
                <a:solidFill>
                  <a:srgbClr val="808080"/>
                </a:solidFill>
              </a:rPr>
              <a:t>  Size: 48x36</a:t>
            </a:r>
          </a:p>
        </p:txBody>
      </p:sp>
    </p:spTree>
    <p:extLst>
      <p:ext uri="{BB962C8B-B14F-4D97-AF65-F5344CB8AC3E}">
        <p14:creationId xmlns:p14="http://schemas.microsoft.com/office/powerpoint/2010/main" val="517980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2303801" rtl="0" eaLnBrk="1" latinLnBrk="0" hangingPunct="1">
        <a:spcBef>
          <a:spcPct val="0"/>
        </a:spcBef>
        <a:buNone/>
        <a:defRPr sz="1107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63925" indent="-863925" algn="l" defTabSz="2303801" rtl="0" eaLnBrk="1" latinLnBrk="0" hangingPunct="1">
        <a:spcBef>
          <a:spcPct val="20000"/>
        </a:spcBef>
        <a:buFont typeface="Arial" pitchFamily="34" charset="0"/>
        <a:buChar char="•"/>
        <a:defRPr sz="8070" kern="1200">
          <a:solidFill>
            <a:schemeClr val="tx1"/>
          </a:solidFill>
          <a:latin typeface="+mn-lt"/>
          <a:ea typeface="+mn-ea"/>
          <a:cs typeface="+mn-cs"/>
        </a:defRPr>
      </a:lvl1pPr>
      <a:lvl2pPr marL="1871838" indent="-719938" algn="l" defTabSz="2303801" rtl="0" eaLnBrk="1" latinLnBrk="0" hangingPunct="1">
        <a:spcBef>
          <a:spcPct val="20000"/>
        </a:spcBef>
        <a:buFont typeface="Arial" pitchFamily="34" charset="0"/>
        <a:buChar char="–"/>
        <a:defRPr sz="7037" kern="1200">
          <a:solidFill>
            <a:schemeClr val="tx1"/>
          </a:solidFill>
          <a:latin typeface="+mn-lt"/>
          <a:ea typeface="+mn-ea"/>
          <a:cs typeface="+mn-cs"/>
        </a:defRPr>
      </a:lvl2pPr>
      <a:lvl3pPr marL="2879751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6052" kern="1200">
          <a:solidFill>
            <a:schemeClr val="tx1"/>
          </a:solidFill>
          <a:latin typeface="+mn-lt"/>
          <a:ea typeface="+mn-ea"/>
          <a:cs typeface="+mn-cs"/>
        </a:defRPr>
      </a:lvl3pPr>
      <a:lvl4pPr marL="4031652" indent="-575950" algn="l" defTabSz="2303801" rtl="0" eaLnBrk="1" latinLnBrk="0" hangingPunct="1">
        <a:spcBef>
          <a:spcPct val="20000"/>
        </a:spcBef>
        <a:buFont typeface="Arial" pitchFamily="34" charset="0"/>
        <a:buChar char="–"/>
        <a:defRPr sz="5019" kern="1200">
          <a:solidFill>
            <a:schemeClr val="tx1"/>
          </a:solidFill>
          <a:latin typeface="+mn-lt"/>
          <a:ea typeface="+mn-ea"/>
          <a:cs typeface="+mn-cs"/>
        </a:defRPr>
      </a:lvl4pPr>
      <a:lvl5pPr marL="5183552" indent="-575950" algn="l" defTabSz="2303801" rtl="0" eaLnBrk="1" latinLnBrk="0" hangingPunct="1">
        <a:spcBef>
          <a:spcPct val="20000"/>
        </a:spcBef>
        <a:buFont typeface="Arial" pitchFamily="34" charset="0"/>
        <a:buChar char="»"/>
        <a:defRPr sz="5019" kern="1200">
          <a:solidFill>
            <a:schemeClr val="tx1"/>
          </a:solidFill>
          <a:latin typeface="+mn-lt"/>
          <a:ea typeface="+mn-ea"/>
          <a:cs typeface="+mn-cs"/>
        </a:defRPr>
      </a:lvl5pPr>
      <a:lvl6pPr marL="6335453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5019" kern="1200">
          <a:solidFill>
            <a:schemeClr val="tx1"/>
          </a:solidFill>
          <a:latin typeface="+mn-lt"/>
          <a:ea typeface="+mn-ea"/>
          <a:cs typeface="+mn-cs"/>
        </a:defRPr>
      </a:lvl6pPr>
      <a:lvl7pPr marL="7487353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5019" kern="1200">
          <a:solidFill>
            <a:schemeClr val="tx1"/>
          </a:solidFill>
          <a:latin typeface="+mn-lt"/>
          <a:ea typeface="+mn-ea"/>
          <a:cs typeface="+mn-cs"/>
        </a:defRPr>
      </a:lvl7pPr>
      <a:lvl8pPr marL="8639254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5019" kern="1200">
          <a:solidFill>
            <a:schemeClr val="tx1"/>
          </a:solidFill>
          <a:latin typeface="+mn-lt"/>
          <a:ea typeface="+mn-ea"/>
          <a:cs typeface="+mn-cs"/>
        </a:defRPr>
      </a:lvl8pPr>
      <a:lvl9pPr marL="9791154" indent="-575950" algn="l" defTabSz="2303801" rtl="0" eaLnBrk="1" latinLnBrk="0" hangingPunct="1">
        <a:spcBef>
          <a:spcPct val="20000"/>
        </a:spcBef>
        <a:buFont typeface="Arial" pitchFamily="34" charset="0"/>
        <a:buChar char="•"/>
        <a:defRPr sz="501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1pPr>
      <a:lvl2pPr marL="1151901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2pPr>
      <a:lvl3pPr marL="2303801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3pPr>
      <a:lvl4pPr marL="3455702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4pPr>
      <a:lvl5pPr marL="4607602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5pPr>
      <a:lvl6pPr marL="5759503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6pPr>
      <a:lvl7pPr marL="6911403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7pPr>
      <a:lvl8pPr marL="8063303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8pPr>
      <a:lvl9pPr marL="9215204" algn="l" defTabSz="2303801" rtl="0" eaLnBrk="1" latinLnBrk="0" hangingPunct="1">
        <a:defRPr sz="452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054"/>
            <a:ext cx="1155497" cy="15119350"/>
          </a:xfrm>
          <a:prstGeom prst="rect">
            <a:avLst/>
          </a:prstGeom>
          <a:solidFill>
            <a:srgbClr val="294D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27" dirty="0"/>
          </a:p>
        </p:txBody>
      </p:sp>
      <p:sp>
        <p:nvSpPr>
          <p:cNvPr id="5" name="Rectangle 4"/>
          <p:cNvSpPr/>
          <p:nvPr/>
        </p:nvSpPr>
        <p:spPr>
          <a:xfrm>
            <a:off x="1155497" y="6357697"/>
            <a:ext cx="314439" cy="8759599"/>
          </a:xfrm>
          <a:prstGeom prst="rect">
            <a:avLst/>
          </a:prstGeom>
          <a:solidFill>
            <a:srgbClr val="C5CB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527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D6866F3-BE58-4692-9185-623520B88C81}"/>
              </a:ext>
            </a:extLst>
          </p:cNvPr>
          <p:cNvSpPr txBox="1"/>
          <p:nvPr/>
        </p:nvSpPr>
        <p:spPr>
          <a:xfrm>
            <a:off x="1692385" y="449972"/>
            <a:ext cx="17998854" cy="144549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50769">
              <a:spcBef>
                <a:spcPct val="20000"/>
              </a:spcBef>
              <a:defRPr/>
            </a:pPr>
            <a:r>
              <a:rPr lang="en-GB" sz="3904" dirty="0">
                <a:solidFill>
                  <a:schemeClr val="tx1"/>
                </a:solidFill>
                <a:latin typeface="Libre Baskerville" panose="02000000000000000000" pitchFamily="2" charset="0"/>
              </a:rPr>
              <a:t>Evaluating Feynman Path Integrals Through Numerical Solution</a:t>
            </a:r>
            <a:endParaRPr lang="en-US" sz="3904" dirty="0">
              <a:solidFill>
                <a:schemeClr val="tx1"/>
              </a:solidFill>
              <a:latin typeface="Libre Baskerville" panose="02000000000000000000" pitchFamily="2" charset="0"/>
            </a:endParaRP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93D5F690-2108-4FD7-A708-326C08E837B7}"/>
              </a:ext>
            </a:extLst>
          </p:cNvPr>
          <p:cNvSpPr txBox="1"/>
          <p:nvPr/>
        </p:nvSpPr>
        <p:spPr>
          <a:xfrm>
            <a:off x="1692385" y="1180030"/>
            <a:ext cx="17998854" cy="39581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572" dirty="0">
                <a:solidFill>
                  <a:schemeClr val="tx1"/>
                </a:solidFill>
                <a:latin typeface="Montserrat Light" panose="00000400000000000000" pitchFamily="50" charset="0"/>
                <a:cs typeface="Arial" pitchFamily="34" charset="0"/>
              </a:rPr>
              <a:t>Archie Headland, Department of Physics, Durham University, 14/12/2025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/>
              <p:cNvSpPr txBox="1"/>
              <p:nvPr/>
            </p:nvSpPr>
            <p:spPr>
              <a:xfrm>
                <a:off x="1588859" y="2401957"/>
                <a:ext cx="6280428" cy="77625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The Feynman path integral is built on the idea that a particle follows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every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possible path between two points, each weighted with an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action, S.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In one-dimensional space, the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propagator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,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G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, represents the probability amplitude for a particle to evolve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700" baseline="30000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b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1700" baseline="-25000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from time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𝑡</m:t>
                        </m:r>
                      </m:e>
                      <m:sub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sz="1700" baseline="-25000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𝑡</m:t>
                        </m:r>
                      </m:e>
                      <m:sub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GB" sz="1700" baseline="-25000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, it is computed by using a path integral:</a:t>
                </a: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𝐺</m:t>
                      </m:r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(</m:t>
                      </m:r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𝑥𝑓</m:t>
                      </m:r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,</m:t>
                      </m:r>
                      <m:sSub>
                        <m:sSub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𝑖</m:t>
                          </m:r>
                        </m:sub>
                      </m:sSub>
                      <m:r>
                        <a:rPr lang="nn-NO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)</m:t>
                      </m:r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𝒟</m:t>
                          </m:r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 </m:t>
                      </m:r>
                      <m:sSup>
                        <m:sSup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GB" sz="1700" i="1" smtClean="0">
                              <a:latin typeface="Cambria Math" panose="02040503050406030204" pitchFamily="18" charset="0"/>
                            </a:rPr>
                            <m:t>ⅈ</m:t>
                          </m:r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17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/</m:t>
                          </m:r>
                          <m:r>
                            <a:rPr lang="en-GB" sz="1700" i="1" smtClean="0">
                              <a:latin typeface="Cambria Math" panose="02040503050406030204" pitchFamily="18" charset="0"/>
                            </a:rPr>
                            <m:t>ℏ</m:t>
                          </m:r>
                        </m:sup>
                      </m:sSup>
                    </m:oMath>
                  </m:oMathPara>
                </a14:m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This path integral is numerically hard to compute as the integrand is complex and exhibits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oscillating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behaviour. This can be avoided by converting real time to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imaginary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time: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𝒕</m:t>
                    </m:r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=−</m:t>
                    </m:r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𝒊</m:t>
                    </m:r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𝝉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. This is used to derive the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Euclidean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path integral: </a:t>
                </a:r>
                <a:endParaRPr lang="en-GB" sz="1700" b="1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70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𝐺</m:t>
                      </m:r>
                      <m:d>
                        <m:dPr>
                          <m:ctrlPr>
                            <a:rPr lang="nn-NO" sz="17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nn-NO" sz="17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  <m:r>
                            <a:rPr lang="nn-NO" sz="1700" i="1" baseline="-2500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𝑓</m:t>
                          </m:r>
                          <m:r>
                            <a:rPr lang="nn-NO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1700" i="1" baseline="-25000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𝒟</m:t>
                          </m:r>
                          <m:r>
                            <a:rPr lang="en-GB" sz="170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𝑡</m:t>
                              </m:r>
                            </m:e>
                          </m:d>
                        </m:e>
                      </m:nary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 </m:t>
                      </m:r>
                      <m:sSup>
                        <m:sSup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GB" sz="1700" b="0" i="1" smtClean="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r>
                            <a:rPr lang="en-GB" sz="1700" b="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700" b="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b="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m:rPr>
                              <m:lit/>
                            </m:rPr>
                            <a:rPr lang="en-GB" sz="1700" b="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/</m:t>
                          </m:r>
                          <m:r>
                            <a:rPr lang="en-GB" sz="1700" b="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ℏ</m:t>
                          </m:r>
                        </m:sup>
                      </m:sSup>
                    </m:oMath>
                  </m:oMathPara>
                </a14:m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Each path in the sum is weighted by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𝒆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𝑺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700" b="1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GB" sz="1700" b="1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𝒙</m:t>
                            </m:r>
                          </m:e>
                        </m:d>
                        <m: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/</m:t>
                        </m:r>
                        <m:r>
                          <a:rPr lang="en-GB" sz="1700" b="1" i="1" smtClean="0">
                            <a:latin typeface="Cambria Math" panose="02040503050406030204" pitchFamily="18" charset="0"/>
                          </a:rPr>
                          <m:t>ℏ</m:t>
                        </m:r>
                      </m:sup>
                    </m:sSup>
                  </m:oMath>
                </a14:m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, meaning paths with large action are exponentially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supressed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. The path of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minimum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action corresponds to the trajectory predicted by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Newton’s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laws. Therefore,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classical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mechanics emerges as the limiting case of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quantum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mechanics. For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macroscopic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objects, the propagator is dominated by paths very close to the path of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minimum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action, this is because their action for more distant paths much larger than </a:t>
                </a:r>
                <a14:m>
                  <m:oMath xmlns:m="http://schemas.openxmlformats.org/officeDocument/2006/math">
                    <m:r>
                      <a:rPr lang="en-GB" sz="1700" smtClean="0">
                        <a:latin typeface="Cambria Math" panose="02040503050406030204" pitchFamily="18" charset="0"/>
                      </a:rPr>
                      <m:t>ℏ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and so contributions from distant paths are near zero. As a result, quantum effects become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negligible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at macroscopic scales and are primarily observable at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microscopic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scales.</a:t>
                </a: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endParaRPr lang="en-GB" sz="1700" dirty="0">
                  <a:latin typeface="Source Sans 3" panose="020B0303030403020204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859" y="2401957"/>
                <a:ext cx="6280428" cy="7762574"/>
              </a:xfrm>
              <a:prstGeom prst="rect">
                <a:avLst/>
              </a:prstGeom>
              <a:blipFill>
                <a:blip r:embed="rId3"/>
                <a:stretch>
                  <a:fillRect l="-680" t="-157" r="-1165" b="-1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3E73F1E-CAB3-4428-904F-B8DC0CFEE87C}"/>
              </a:ext>
            </a:extLst>
          </p:cNvPr>
          <p:cNvSpPr txBox="1"/>
          <p:nvPr/>
        </p:nvSpPr>
        <p:spPr>
          <a:xfrm>
            <a:off x="2001287" y="1881681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Theory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858780-4102-416E-A83A-B134E40A2291}"/>
              </a:ext>
            </a:extLst>
          </p:cNvPr>
          <p:cNvSpPr txBox="1"/>
          <p:nvPr/>
        </p:nvSpPr>
        <p:spPr>
          <a:xfrm>
            <a:off x="8634296" y="1881681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Metropolis Algorithm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D6EE76-6ABA-40F6-BC41-B86C00AB9E11}"/>
              </a:ext>
            </a:extLst>
          </p:cNvPr>
          <p:cNvSpPr txBox="1"/>
          <p:nvPr/>
        </p:nvSpPr>
        <p:spPr>
          <a:xfrm>
            <a:off x="15267306" y="6798950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Results</a:t>
            </a:r>
          </a:p>
        </p:txBody>
      </p:sp>
      <p:pic>
        <p:nvPicPr>
          <p:cNvPr id="3" name="Picture 2" descr="A purple shield with lions and triangle&#10;&#10;AI-generated content may be incorrect.">
            <a:extLst>
              <a:ext uri="{FF2B5EF4-FFF2-40B4-BE49-F238E27FC236}">
                <a16:creationId xmlns:a16="http://schemas.microsoft.com/office/drawing/2014/main" id="{C9CAF8D2-B51E-1683-0139-9AA9E13ACE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3504" y="-62384"/>
            <a:ext cx="1895470" cy="18954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1170D0-CAF6-5C24-5C5E-D69B55949DCE}"/>
              </a:ext>
            </a:extLst>
          </p:cNvPr>
          <p:cNvSpPr txBox="1"/>
          <p:nvPr/>
        </p:nvSpPr>
        <p:spPr>
          <a:xfrm>
            <a:off x="2001287" y="9933698"/>
            <a:ext cx="5040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Path Generation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BAC38B-8B67-FC3A-731C-3CACA1FBEE65}"/>
                  </a:ext>
                </a:extLst>
              </p:cNvPr>
              <p:cNvSpPr txBox="1"/>
              <p:nvPr/>
            </p:nvSpPr>
            <p:spPr>
              <a:xfrm>
                <a:off x="8188530" y="2401957"/>
                <a:ext cx="6280428" cy="70381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The Metropolis algorithm samples paths with probability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𝒆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𝑺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GB" sz="1700" b="1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r>
                              <a:rPr lang="en-GB" sz="1700" b="1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  <m:t>𝒙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/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ℏ</m:t>
                        </m:r>
                      </m:sup>
                    </m:sSup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, preferentially selecting paths with </a:t>
                </a:r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lower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action. It starts with an arbitrary path and modifies it by </a:t>
                </a:r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randomising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every point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nn-NO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𝑥</m:t>
                        </m:r>
                      </m:e>
                      <m:sub>
                        <m:r>
                          <a:rPr lang="en-US" sz="17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according to the following steps:</a:t>
                </a:r>
              </a:p>
              <a:p>
                <a:endParaRPr lang="en-US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Generate a random number </a:t>
                </a:r>
                <a:r>
                  <a:rPr lang="el-GR" sz="1700" b="1" dirty="0">
                    <a:latin typeface="Source Sans 3" panose="020B0303030403020204" pitchFamily="34" charset="0"/>
                    <a:cs typeface="Arial" pitchFamily="34" charset="0"/>
                  </a:rPr>
                  <a:t>ζ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from a uniform probability distribution between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is a chosen constant.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nn-NO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nn-NO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+ </a:t>
                </a:r>
                <a:r>
                  <a:rPr lang="el-GR" sz="1700" b="1" dirty="0">
                    <a:latin typeface="Source Sans 3" panose="020B0303030403020204" pitchFamily="34" charset="0"/>
                    <a:cs typeface="Arial" pitchFamily="34" charset="0"/>
                  </a:rPr>
                  <a:t>ζ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and compute the change in action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∆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𝑺</m:t>
                    </m:r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caused by this replacement. 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∆</m:t>
                    </m:r>
                    <m:r>
                      <a:rPr lang="en-GB" sz="17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𝑺</m:t>
                    </m:r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&lt; 0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keep the new value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nn-NO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and visit the next point.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∆</m:t>
                    </m:r>
                    <m:r>
                      <a:rPr lang="en-GB" sz="17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𝑺</m:t>
                    </m:r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&gt; 0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generate a random number </a:t>
                </a:r>
                <a14:m>
                  <m:oMath xmlns:m="http://schemas.openxmlformats.org/officeDocument/2006/math">
                    <m:r>
                      <a:rPr lang="en-US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𝜼</m:t>
                    </m:r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uniformly distributed between 0 and 1. Keep the new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nn-NO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𝒆</m:t>
                        </m:r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−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∆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Arial" pitchFamily="34" charset="0"/>
                          </a:rPr>
                          <m:t>𝑺</m:t>
                        </m:r>
                      </m:sup>
                    </m:sSup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&gt; </m:t>
                    </m:r>
                    <m:r>
                      <a:rPr lang="en-GB" sz="1700" b="1" i="0" smtClean="0">
                        <a:latin typeface="Cambria Math" panose="02040503050406030204" pitchFamily="18" charset="0"/>
                        <a:cs typeface="Arial" pitchFamily="34" charset="0"/>
                      </a:rPr>
                      <m:t>𝜼</m:t>
                    </m:r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, else restore the old value and visit the next point.</a:t>
                </a:r>
              </a:p>
              <a:p>
                <a:endParaRPr lang="en-US" sz="1700" b="1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This process is known as one sweep or </a:t>
                </a:r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update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, we aim to choose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such that </a:t>
                </a:r>
                <a14:m>
                  <m:oMath xmlns:m="http://schemas.openxmlformats.org/officeDocument/2006/math">
                    <m:r>
                      <a:rPr lang="en-GB" sz="17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40-60%</m:t>
                    </m:r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of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nn-NO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en-GB" sz="1700" b="1" i="1" smtClean="0">
                        <a:latin typeface="Cambria Math" panose="02040503050406030204" pitchFamily="18" charset="0"/>
                      </a:rPr>
                      <m:t>’</m:t>
                    </m:r>
                    <m:r>
                      <m:rPr>
                        <m:sty m:val="p"/>
                      </m:rPr>
                      <a:rPr lang="en-GB" sz="1700" b="1" i="1" smtClean="0"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are changed on each sweep. </a:t>
                </a:r>
              </a:p>
              <a:p>
                <a:endParaRPr lang="en-US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To start, the path is updated 10</a:t>
                </a:r>
                <a:r>
                  <a:rPr lang="en-US" sz="1700" b="1" dirty="0"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𝒄𝒐𝒓</m:t>
                        </m:r>
                      </m:sub>
                    </m:sSub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times to </a:t>
                </a:r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thermalise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the path (to remove the bias from the initial chosen path). The path is then updated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𝒄𝒐𝒓</m:t>
                        </m:r>
                      </m:sub>
                    </m:sSub>
                  </m:oMath>
                </a14:m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 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times and the position at the </a:t>
                </a:r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midpoint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of the path is recorded, this is then repeated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</m:t>
                        </m:r>
                        <m: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𝒇</m:t>
                        </m:r>
                      </m:sub>
                    </m:sSub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times until sufficient paths have been recorded. In the limit of </a:t>
                </a:r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large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imaginary time the distribution of midpoint positions sampled by the metropolis algorithm will converge to the ground-state probability density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GB" sz="1700" b="1" i="1">
                                <a:latin typeface="Cambria Math" panose="02040503050406030204" pitchFamily="18" charset="0"/>
                                <a:cs typeface="Arial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𝝍</m:t>
                                </m:r>
                              </m:e>
                              <m:sub>
                                <m: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GB" sz="1700" b="1" i="1">
                                    <a:latin typeface="Cambria Math" panose="02040503050406030204" pitchFamily="18" charset="0"/>
                                    <a:cs typeface="Arial" pitchFamily="34" charset="0"/>
                                  </a:rPr>
                                  <m:t>𝒙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1700" b="1" dirty="0">
                  <a:latin typeface="Source Sans 3" panose="020B0303030403020204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3BAC38B-8B67-FC3A-731C-3CACA1FBEE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8530" y="2401957"/>
                <a:ext cx="6280428" cy="7038145"/>
              </a:xfrm>
              <a:prstGeom prst="rect">
                <a:avLst/>
              </a:prstGeom>
              <a:blipFill>
                <a:blip r:embed="rId5"/>
                <a:stretch>
                  <a:fillRect l="-970" t="-1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834E87-36FF-ADC5-A483-C72F25BA8C57}"/>
                  </a:ext>
                </a:extLst>
              </p:cNvPr>
              <p:cNvSpPr txBox="1"/>
              <p:nvPr/>
            </p:nvSpPr>
            <p:spPr>
              <a:xfrm>
                <a:off x="14808847" y="7305664"/>
                <a:ext cx="6280428" cy="32316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The numerical approximation appears to reproduce the expected </a:t>
                </a:r>
                <a:r>
                  <a:rPr lang="en-GB" sz="1700" b="1" dirty="0">
                    <a:latin typeface="Source Sans 3" panose="020B0303030403020204" pitchFamily="34" charset="0"/>
                    <a:cs typeface="Arial" pitchFamily="34" charset="0"/>
                  </a:rPr>
                  <a:t>gaussian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shape over the range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−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𝟑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≤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𝒙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≤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𝟑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. Chi-squared analysis was used to assess quantitative agreement where each bin of the histogram was compared to the analytic solution. For </a:t>
                </a:r>
                <a14:m>
                  <m:oMath xmlns:m="http://schemas.openxmlformats.org/officeDocument/2006/math">
                    <m:r>
                      <a:rPr lang="en-GB" sz="1700" b="0" i="1" dirty="0" smtClean="0">
                        <a:latin typeface="Cambria Math" panose="02040503050406030204" pitchFamily="18" charset="0"/>
                        <a:cs typeface="Arial" pitchFamily="34" charset="0"/>
                      </a:rPr>
                      <m:t>5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runs of the program the average chi-squared value was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7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pPr>
                      <m:e>
                        <m:r>
                          <a:rPr lang="en-GB" sz="17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𝜒</m:t>
                        </m:r>
                      </m:e>
                      <m:sup>
                        <m:r>
                          <a:rPr lang="en-GB" sz="1700" i="1" dirty="0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p>
                    <m:r>
                      <a:rPr lang="en-GB" sz="1700" i="1" dirty="0">
                        <a:latin typeface="Cambria Math" panose="02040503050406030204" pitchFamily="18" charset="0"/>
                        <a:cs typeface="Arial" pitchFamily="34" charset="0"/>
                      </a:rPr>
                      <m:t>=77.9</m:t>
                    </m:r>
                  </m:oMath>
                </a14:m>
                <a:r>
                  <a:rPr lang="en-GB" sz="1700" i="1" dirty="0">
                    <a:latin typeface="Cambria Math" panose="02040503050406030204" pitchFamily="18" charset="0"/>
                    <a:cs typeface="Arial" pitchFamily="34" charset="0"/>
                  </a:rPr>
                  <a:t>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and the reduced chi-squared value was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700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SupPr>
                      <m:e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𝜒</m:t>
                        </m:r>
                      </m:e>
                      <m:sub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𝜈</m:t>
                        </m:r>
                      </m:sub>
                      <m:sup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bSup>
                    <m:r>
                      <a:rPr lang="en-GB" sz="17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=1.08 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, this shows strong agreement between the numerical and analytical fit. Since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SupPr>
                      <m:e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𝜒</m:t>
                        </m:r>
                      </m:e>
                      <m:sub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𝜈</m:t>
                        </m:r>
                      </m:sub>
                      <m:sup>
                        <m:r>
                          <a:rPr lang="en-GB" sz="1700" i="1">
                            <a:latin typeface="Cambria Math" panose="02040503050406030204" pitchFamily="18" charset="0"/>
                            <a:cs typeface="Arial" pitchFamily="34" charset="0"/>
                          </a:rPr>
                          <m:t>2</m:t>
                        </m:r>
                      </m:sup>
                    </m:sSubSup>
                    <m:r>
                      <a:rPr lang="en-GB" sz="17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Arial" pitchFamily="34" charset="0"/>
                      </a:rPr>
                      <m:t>≈</m:t>
                    </m:r>
                    <m:r>
                      <a:rPr lang="en-GB" sz="1700" i="1">
                        <a:latin typeface="Cambria Math" panose="02040503050406030204" pitchFamily="18" charset="0"/>
                        <a:cs typeface="Arial" pitchFamily="34" charset="0"/>
                      </a:rPr>
                      <m:t>1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this suggests that discrepancies in the numerical fit are caused by a finite number of trials rather than any systematic errors with our metropolis algorithm</a:t>
                </a:r>
                <a:endParaRPr lang="en-GB" sz="1700" i="1" dirty="0">
                  <a:latin typeface="Cambria Math" panose="02040503050406030204" pitchFamily="18" charset="0"/>
                  <a:cs typeface="Arial" pitchFamily="34" charset="0"/>
                </a:endParaRPr>
              </a:p>
              <a:p>
                <a:endParaRPr lang="en-GB" sz="1700" i="1" dirty="0">
                  <a:latin typeface="Cambria Math" panose="02040503050406030204" pitchFamily="18" charset="0"/>
                  <a:cs typeface="Arial" pitchFamily="34" charset="0"/>
                </a:endParaRPr>
              </a:p>
              <a:p>
                <a14:m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3834E87-36FF-ADC5-A483-C72F25BA8C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08847" y="7305664"/>
                <a:ext cx="6280428" cy="3231654"/>
              </a:xfrm>
              <a:prstGeom prst="rect">
                <a:avLst/>
              </a:prstGeom>
              <a:blipFill>
                <a:blip r:embed="rId6"/>
                <a:stretch>
                  <a:fillRect l="-582" t="-377" b="-150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id="{BC05A48C-A4BF-12A4-D84E-A306785A2597}"/>
              </a:ext>
            </a:extLst>
          </p:cNvPr>
          <p:cNvSpPr txBox="1"/>
          <p:nvPr/>
        </p:nvSpPr>
        <p:spPr>
          <a:xfrm>
            <a:off x="6653212" y="4114878"/>
            <a:ext cx="52632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>
                <a:latin typeface="Cambria Math" panose="02040503050406030204" pitchFamily="18" charset="0"/>
                <a:ea typeface="Cambria Math" panose="02040503050406030204" pitchFamily="18" charset="0"/>
              </a:rPr>
              <a:t>(1)</a:t>
            </a:r>
          </a:p>
        </p:txBody>
      </p:sp>
      <p:pic>
        <p:nvPicPr>
          <p:cNvPr id="25" name="Picture 24" descr="A blue and orange graph&#10;&#10;AI-generated content may be incorrect.">
            <a:extLst>
              <a:ext uri="{FF2B5EF4-FFF2-40B4-BE49-F238E27FC236}">
                <a16:creationId xmlns:a16="http://schemas.microsoft.com/office/drawing/2014/main" id="{CB3D9873-00C0-AC81-A7C2-5B78F5EC0D1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7300" y="1800042"/>
            <a:ext cx="6679366" cy="445291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46998ED4-3940-E663-B5BA-8D82D61F7A85}"/>
              </a:ext>
            </a:extLst>
          </p:cNvPr>
          <p:cNvSpPr txBox="1"/>
          <p:nvPr/>
        </p:nvSpPr>
        <p:spPr>
          <a:xfrm>
            <a:off x="6653212" y="6237077"/>
            <a:ext cx="52632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>
                <a:latin typeface="Cambria Math" panose="02040503050406030204" pitchFamily="18" charset="0"/>
                <a:ea typeface="Cambria Math" panose="02040503050406030204" pitchFamily="18" charset="0"/>
              </a:rPr>
              <a:t>(2)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C74A0D-06A1-67B4-309B-DC4D3ED91981}"/>
                  </a:ext>
                </a:extLst>
              </p:cNvPr>
              <p:cNvSpPr txBox="1"/>
              <p:nvPr/>
            </p:nvSpPr>
            <p:spPr>
              <a:xfrm>
                <a:off x="1588859" y="10490702"/>
                <a:ext cx="6444000" cy="40576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Solving a Euclidean path integral is difficult, as a particle can follow an infinite number of infinitely complex paths. To simplify this problem a computer program was used to generate a </a:t>
                </a:r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huge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number of </a:t>
                </a:r>
                <a:r>
                  <a:rPr lang="en-US" sz="1700" b="1" dirty="0">
                    <a:latin typeface="Source Sans 3" panose="020B0303030403020204" pitchFamily="34" charset="0"/>
                    <a:cs typeface="Arial" pitchFamily="34" charset="0"/>
                  </a:rPr>
                  <a:t>discretised</a:t>
                </a:r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paths. Each path allows the particle to jump between space in discrete time steps as shown in Fig. 1 where the total number of steps is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𝑵</m:t>
                    </m:r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, and the time spacing between steps is set as </a:t>
                </a:r>
                <a14:m>
                  <m:oMath xmlns:m="http://schemas.openxmlformats.org/officeDocument/2006/math"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𝒂</m:t>
                    </m:r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.</a:t>
                </a:r>
              </a:p>
              <a:p>
                <a:endParaRPr lang="en-US" sz="170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Every path should have the same start and end value, </a:t>
                </a:r>
                <a14:m>
                  <m:oMath xmlns:m="http://schemas.openxmlformats.org/officeDocument/2006/math">
                    <m:r>
                      <a:rPr lang="en-GB" sz="1700" b="0" i="0" smtClean="0">
                        <a:latin typeface="Cambria Math" panose="02040503050406030204" pitchFamily="18" charset="0"/>
                        <a:cs typeface="Arial" pitchFamily="34" charset="0"/>
                      </a:rPr>
                      <m:t> </m:t>
                    </m:r>
                    <m:sSub>
                      <m:sSubPr>
                        <m:ctrlPr>
                          <a:rPr lang="en-US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𝟎</m:t>
                        </m:r>
                      </m:sub>
                    </m:sSub>
                    <m:r>
                      <a:rPr lang="en-US" sz="1700" b="1" i="1">
                        <a:latin typeface="Cambria Math" panose="02040503050406030204" pitchFamily="18" charset="0"/>
                        <a:cs typeface="Arial" pitchFamily="34" charset="0"/>
                      </a:rPr>
                      <m:t>=</m:t>
                    </m:r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𝒙</m:t>
                        </m:r>
                      </m:e>
                      <m:sub>
                        <m: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sub>
                    </m:sSub>
                    <m:r>
                      <a:rPr lang="en-GB" sz="1700" b="0" i="1" smtClean="0">
                        <a:latin typeface="Cambria Math" panose="02040503050406030204" pitchFamily="18" charset="0"/>
                        <a:cs typeface="Arial" pitchFamily="34" charset="0"/>
                      </a:rPr>
                      <m:t>.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 This is a boundary condition for the ground-state wave function of a harmonic oscillator. These simplifications reduce the problem to an approximate expression of the quantum propagator:</a:t>
                </a:r>
              </a:p>
              <a:p>
                <a:endParaRPr lang="en-GB" sz="1700" b="0" dirty="0">
                  <a:latin typeface="Source Sans 3" panose="020B0303030403020204" pitchFamily="34" charset="0"/>
                  <a:cs typeface="Arial" pitchFamily="34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n-NO" sz="1700" i="1" smtClean="0">
                          <a:latin typeface="Cambria Math" panose="02040503050406030204" pitchFamily="18" charset="0"/>
                          <a:cs typeface="Arial" pitchFamily="34" charset="0"/>
                        </a:rPr>
                        <m:t>𝐺</m:t>
                      </m:r>
                      <m:d>
                        <m:dPr>
                          <m:ctrlPr>
                            <a:rPr lang="nn-NO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dPr>
                        <m:e>
                          <m:r>
                            <a:rPr lang="nn-NO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  <m:r>
                            <a:rPr lang="nn-NO" sz="1700" i="1" baseline="-25000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𝑓</m:t>
                          </m:r>
                          <m:r>
                            <a:rPr lang="nn-NO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≈</m:t>
                      </m:r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𝐴</m:t>
                      </m:r>
                      <m:nary>
                        <m:nary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naryPr>
                        <m:sub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−∞</m:t>
                          </m:r>
                        </m:sub>
                        <m:sup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sSub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1</m:t>
                              </m:r>
                            </m:sub>
                          </m:sSub>
                        </m:e>
                      </m:nary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…</m:t>
                      </m:r>
                      <m:r>
                        <a:rPr lang="en-GB" sz="1700" i="1">
                          <a:latin typeface="Cambria Math" panose="02040503050406030204" pitchFamily="18" charset="0"/>
                          <a:cs typeface="Arial" pitchFamily="34" charset="0"/>
                        </a:rPr>
                        <m:t>𝑑</m:t>
                      </m:r>
                      <m:sSub>
                        <m:sSub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b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𝑥</m:t>
                          </m:r>
                        </m:e>
                        <m:sub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𝑁</m:t>
                          </m:r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−1</m:t>
                          </m:r>
                        </m:sub>
                      </m:sSub>
                      <m:sSup>
                        <m:sSupPr>
                          <m:ctrlP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</m:ctrlPr>
                        </m:sSupPr>
                        <m:e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𝑒</m:t>
                          </m:r>
                        </m:e>
                        <m:sup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−</m:t>
                          </m:r>
                          <m:r>
                            <a:rPr lang="en-GB" sz="1700" i="1">
                              <a:latin typeface="Cambria Math" panose="02040503050406030204" pitchFamily="18" charset="0"/>
                              <a:cs typeface="Arial" pitchFamily="34" charset="0"/>
                            </a:rPr>
                            <m:t>𝑆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700" i="1">
                                  <a:latin typeface="Cambria Math" panose="02040503050406030204" pitchFamily="18" charset="0"/>
                                  <a:cs typeface="Arial" pitchFamily="34" charset="0"/>
                                </a:rPr>
                                <m:t>𝑥</m:t>
                              </m:r>
                            </m:e>
                          </m:d>
                        </m:sup>
                      </m:sSup>
                    </m:oMath>
                  </m:oMathPara>
                </a14:m>
              </a:p>
              <a:p>
                <a:endParaRPr lang="en-GB" sz="1700" b="0" dirty="0">
                  <a:latin typeface="Source Sans 3" panose="020B0303030403020204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C74A0D-06A1-67B4-309B-DC4D3ED91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859" y="10490702"/>
                <a:ext cx="6444000" cy="4057649"/>
              </a:xfrm>
              <a:prstGeom prst="rect">
                <a:avLst/>
              </a:prstGeom>
              <a:blipFill>
                <a:blip r:embed="rId8"/>
                <a:stretch>
                  <a:fillRect l="-662" t="-450" r="-946" b="-10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85507B61-53A3-9DDC-A641-5EFD645ABE3A}"/>
              </a:ext>
            </a:extLst>
          </p:cNvPr>
          <p:cNvSpPr txBox="1"/>
          <p:nvPr/>
        </p:nvSpPr>
        <p:spPr>
          <a:xfrm>
            <a:off x="6653211" y="13768818"/>
            <a:ext cx="52632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700" dirty="0">
                <a:latin typeface="Cambria Math" panose="02040503050406030204" pitchFamily="18" charset="0"/>
                <a:ea typeface="Cambria Math" panose="02040503050406030204" pitchFamily="18" charset="0"/>
              </a:rPr>
              <a:t>(3)</a:t>
            </a: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E5613ADD-7693-1D75-F9C9-885BD325D39F}"/>
              </a:ext>
            </a:extLst>
          </p:cNvPr>
          <p:cNvGrpSpPr/>
          <p:nvPr/>
        </p:nvGrpSpPr>
        <p:grpSpPr>
          <a:xfrm>
            <a:off x="8188529" y="9261040"/>
            <a:ext cx="6280427" cy="4662346"/>
            <a:chOff x="8188529" y="8876551"/>
            <a:chExt cx="6280427" cy="4662346"/>
          </a:xfrm>
        </p:grpSpPr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A94CBB6D-67F6-3FC3-BA22-7151D0C5CDF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209176" y="8876551"/>
              <a:ext cx="6205001" cy="4038600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D5ED8A-BCE2-DCB4-E75D-CB20FD075943}"/>
                    </a:ext>
                  </a:extLst>
                </p:cNvPr>
                <p:cNvSpPr txBox="1"/>
                <p:nvPr/>
              </p:nvSpPr>
              <p:spPr>
                <a:xfrm>
                  <a:off x="8188529" y="12923344"/>
                  <a:ext cx="6280427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700" dirty="0">
                      <a:latin typeface="Source Sans 3" panose="020B0303030403020204" pitchFamily="34" charset="0"/>
                    </a:rPr>
                    <a:t>Fig. 1. Diagram showing the discretisation of a continuous complex path with time spacing </a:t>
                  </a:r>
                  <a14:m>
                    <m:oMath xmlns:m="http://schemas.openxmlformats.org/officeDocument/2006/math">
                      <m:r>
                        <a:rPr lang="en-GB" sz="1700" b="1" i="1" smtClean="0">
                          <a:latin typeface="Cambria Math" panose="02040503050406030204" pitchFamily="18" charset="0"/>
                        </a:rPr>
                        <m:t>𝒂</m:t>
                      </m:r>
                    </m:oMath>
                  </a14:m>
                  <a:r>
                    <a:rPr lang="en-GB" sz="1700" dirty="0">
                      <a:latin typeface="Source Sans 3" panose="020B0303030403020204" pitchFamily="34" charset="0"/>
                    </a:rPr>
                    <a:t>.</a:t>
                  </a:r>
                  <a:endParaRPr lang="en-GB" sz="1700" b="1" dirty="0">
                    <a:latin typeface="Source Sans 3" panose="020B0303030403020204" pitchFamily="34" charset="0"/>
                  </a:endParaRPr>
                </a:p>
              </p:txBody>
            </p:sp>
          </mc:Choice>
          <mc:Fallback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0DD5ED8A-BCE2-DCB4-E75D-CB20FD075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8529" y="12923344"/>
                  <a:ext cx="6280427" cy="615553"/>
                </a:xfrm>
                <a:prstGeom prst="rect">
                  <a:avLst/>
                </a:prstGeom>
                <a:blipFill>
                  <a:blip r:embed="rId10"/>
                  <a:stretch>
                    <a:fillRect l="-582" t="-1980" b="-13861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6E4AAA3-3C0B-1DBB-7672-F0DA1B33398D}"/>
                  </a:ext>
                </a:extLst>
              </p:cNvPr>
              <p:cNvSpPr txBox="1"/>
              <p:nvPr/>
            </p:nvSpPr>
            <p:spPr>
              <a:xfrm>
                <a:off x="14788201" y="5840363"/>
                <a:ext cx="6402889" cy="9019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700" dirty="0">
                    <a:latin typeface="Source Sans 3" panose="020B0303030403020204" pitchFamily="34" charset="0"/>
                  </a:rPr>
                  <a:t>Fig. 2. Analytic against approximate ground-state probability density for a harmonic oscillator found with the metropolis algorithm with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𝝐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=1.4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700" b="1" i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𝒄𝒐𝒓</m:t>
                        </m:r>
                      </m:sub>
                    </m:sSub>
                    <m:r>
                      <a:rPr lang="en-GB" sz="1700" b="1" i="0" smtClean="0">
                        <a:latin typeface="Cambria Math" panose="02040503050406030204" pitchFamily="18" charset="0"/>
                        <a:cs typeface="Arial" pitchFamily="34" charset="0"/>
                      </a:rPr>
                      <m:t>=200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</a:rPr>
                  <a:t>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 smtClean="0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𝒇</m:t>
                        </m:r>
                      </m:sub>
                    </m:sSub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=20000</m:t>
                    </m:r>
                  </m:oMath>
                </a14:m>
                <a:r>
                  <a:rPr lang="en-GB" sz="1700" dirty="0">
                    <a:latin typeface="Source Sans 3" panose="020B0303030403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GB" sz="1700" b="1" i="1">
                        <a:latin typeface="Cambria Math" panose="02040503050406030204" pitchFamily="18" charset="0"/>
                        <a:cs typeface="Arial" pitchFamily="34" charset="0"/>
                      </a:rPr>
                      <m:t>𝑵</m:t>
                    </m:r>
                    <m:r>
                      <a:rPr lang="en-GB" sz="1700" b="1" i="1" smtClean="0">
                        <a:latin typeface="Cambria Math" panose="02040503050406030204" pitchFamily="18" charset="0"/>
                        <a:cs typeface="Arial" pitchFamily="34" charset="0"/>
                      </a:rPr>
                      <m:t>=100</m:t>
                    </m:r>
                  </m:oMath>
                </a14:m>
                <a:r>
                  <a:rPr lang="en-GB" sz="1700" b="1" dirty="0">
                    <a:latin typeface="Source Sans 3" panose="020B0303030403020204" pitchFamily="34" charset="0"/>
                  </a:rPr>
                  <a:t>. </a:t>
                </a:r>
              </a:p>
            </p:txBody>
          </p:sp>
        </mc:Choice>
        <mc:Fallback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56E4AAA3-3C0B-1DBB-7672-F0DA1B3339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88201" y="5840363"/>
                <a:ext cx="6402889" cy="901978"/>
              </a:xfrm>
              <a:prstGeom prst="rect">
                <a:avLst/>
              </a:prstGeom>
              <a:blipFill>
                <a:blip r:embed="rId11"/>
                <a:stretch>
                  <a:fillRect l="-667" t="-1351" b="-810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TextBox 47">
            <a:extLst>
              <a:ext uri="{FF2B5EF4-FFF2-40B4-BE49-F238E27FC236}">
                <a16:creationId xmlns:a16="http://schemas.microsoft.com/office/drawing/2014/main" id="{AF49CA5D-D955-0A0B-6280-BE7A83374CB3}"/>
              </a:ext>
            </a:extLst>
          </p:cNvPr>
          <p:cNvSpPr txBox="1"/>
          <p:nvPr/>
        </p:nvSpPr>
        <p:spPr>
          <a:xfrm>
            <a:off x="15267306" y="10351534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Conclusion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5604C07-AC16-1931-0132-4EF4ECCCB619}"/>
              </a:ext>
            </a:extLst>
          </p:cNvPr>
          <p:cNvSpPr txBox="1"/>
          <p:nvPr/>
        </p:nvSpPr>
        <p:spPr>
          <a:xfrm>
            <a:off x="14808845" y="13753087"/>
            <a:ext cx="6280428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Source Sans 3" panose="020B0303030403020204" pitchFamily="34" charset="0"/>
                <a:cs typeface="Arial" pitchFamily="34" charset="0"/>
              </a:rPr>
              <a:t>[1] R. P. Feynman, “Space-Time Approach to Non-Relativistic Quantum Mechanics.” Rev. Mod. Phys. 20, 367–387 (1948). doi: 10.1103/RevModPhys.20.367</a:t>
            </a:r>
          </a:p>
          <a:p>
            <a:r>
              <a:rPr lang="en-GB" sz="1700" dirty="0">
                <a:latin typeface="Source Sans 3" panose="020B0303030403020204" pitchFamily="34" charset="0"/>
                <a:cs typeface="Arial" pitchFamily="34" charset="0"/>
              </a:rPr>
              <a:t>[2] G. P. Lepage, “Lattice QCD for Novices.” (2005). doi: 10.48550/arXiv.hep-lat/0506036</a:t>
            </a:r>
            <a:endParaRPr lang="en-US" sz="1700" dirty="0">
              <a:latin typeface="Source Sans 3" panose="020B0303030403020204" pitchFamily="34" charset="0"/>
              <a:cs typeface="Arial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352663A-F800-F1BA-2FF7-F07D1BA9C138}"/>
              </a:ext>
            </a:extLst>
          </p:cNvPr>
          <p:cNvSpPr txBox="1"/>
          <p:nvPr/>
        </p:nvSpPr>
        <p:spPr>
          <a:xfrm>
            <a:off x="15267306" y="13275526"/>
            <a:ext cx="5868000" cy="461665"/>
          </a:xfrm>
          <a:prstGeom prst="rect">
            <a:avLst/>
          </a:prstGeom>
          <a:ln>
            <a:noFill/>
          </a:ln>
          <a:effectLst>
            <a:outerShdw dist="317500" dir="10800000" algn="tl" rotWithShape="0">
              <a:srgbClr val="294D6D"/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83996" rtlCol="0">
            <a:spAutoFit/>
          </a:bodyPr>
          <a:lstStyle/>
          <a:p>
            <a:pPr defTabSz="2159899">
              <a:defRPr/>
            </a:pPr>
            <a:r>
              <a:rPr lang="en-US" sz="2400" dirty="0">
                <a:solidFill>
                  <a:srgbClr val="6FB747"/>
                </a:solidFill>
                <a:latin typeface="Libre Baskerville" panose="02000000000000000000" pitchFamily="2" charset="0"/>
              </a:rPr>
              <a:t>References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B2D9E85-2BA5-FC71-FBDA-724B277A0573}"/>
                  </a:ext>
                </a:extLst>
              </p:cNvPr>
              <p:cNvSpPr txBox="1"/>
              <p:nvPr/>
            </p:nvSpPr>
            <p:spPr>
              <a:xfrm>
                <a:off x="14827890" y="10869808"/>
                <a:ext cx="6280428" cy="19484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The metropolis algorithm is an effective way to approximate ground-state probability distributions for a harmonic oscillator. The accuracy of the numerical fit could be further improved by using a larger number of trials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 </m:t>
                        </m:r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𝒄𝒇</m:t>
                        </m:r>
                      </m:sub>
                    </m:sSub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, or a larger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</m:ctrlPr>
                      </m:sSubPr>
                      <m:e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𝑵</m:t>
                        </m:r>
                      </m:e>
                      <m:sub>
                        <m:r>
                          <a:rPr lang="en-GB" sz="1700" b="1" i="1">
                            <a:latin typeface="Cambria Math" panose="02040503050406030204" pitchFamily="18" charset="0"/>
                            <a:cs typeface="Arial" pitchFamily="34" charset="0"/>
                          </a:rPr>
                          <m:t>𝒄𝒐𝒓</m:t>
                        </m:r>
                      </m:sub>
                    </m:sSub>
                  </m:oMath>
                </a14:m>
                <a:r>
                  <a:rPr lang="en-US" sz="1700" dirty="0">
                    <a:latin typeface="Source Sans 3" panose="020B0303030403020204" pitchFamily="34" charset="0"/>
                    <a:cs typeface="Arial" pitchFamily="34" charset="0"/>
                  </a:rPr>
                  <a:t> to reduce correlation between samples. </a:t>
                </a:r>
                <a:r>
                  <a:rPr lang="en-GB" sz="1700" dirty="0">
                    <a:latin typeface="Source Sans 3" panose="020B0303030403020204" pitchFamily="34" charset="0"/>
                    <a:cs typeface="Arial" pitchFamily="34" charset="0"/>
                  </a:rPr>
                  <a:t>A future extension of this work could be the extraction of excited-state energies in anharmonic potentials, where the absence of exact solutions makes numerical methods essential.</a:t>
                </a:r>
                <a:endParaRPr lang="en-US" sz="1700" dirty="0">
                  <a:latin typeface="Source Sans 3" panose="020B0303030403020204" pitchFamily="34" charset="0"/>
                  <a:cs typeface="Arial" pitchFamily="34" charset="0"/>
                </a:endParaRPr>
              </a:p>
            </p:txBody>
          </p:sp>
        </mc:Choice>
        <mc:Fallback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EB2D9E85-2BA5-FC71-FBDA-724B277A0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7890" y="10869808"/>
                <a:ext cx="6280428" cy="1948419"/>
              </a:xfrm>
              <a:prstGeom prst="rect">
                <a:avLst/>
              </a:prstGeom>
              <a:blipFill>
                <a:blip r:embed="rId12"/>
                <a:stretch>
                  <a:fillRect l="-582" t="-625" r="-970" b="-3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Box 54">
            <a:extLst>
              <a:ext uri="{FF2B5EF4-FFF2-40B4-BE49-F238E27FC236}">
                <a16:creationId xmlns:a16="http://schemas.microsoft.com/office/drawing/2014/main" id="{0F70362C-6F34-9B3D-B45B-3A1D4317502C}"/>
              </a:ext>
            </a:extLst>
          </p:cNvPr>
          <p:cNvSpPr txBox="1"/>
          <p:nvPr/>
        </p:nvSpPr>
        <p:spPr>
          <a:xfrm>
            <a:off x="8193194" y="14300046"/>
            <a:ext cx="49972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GenAI Statement: Tool: Copilot. Use: Improving written language for select statements. Evaluation: Returned output was carefully considered to ensure original meaning.</a:t>
            </a:r>
          </a:p>
        </p:txBody>
      </p:sp>
    </p:spTree>
    <p:extLst>
      <p:ext uri="{BB962C8B-B14F-4D97-AF65-F5344CB8AC3E}">
        <p14:creationId xmlns:p14="http://schemas.microsoft.com/office/powerpoint/2010/main" val="41783796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speculativestone|08-2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Calibri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9181</TotalTime>
  <Words>971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Montserrat Light</vt:lpstr>
      <vt:lpstr>Calibri</vt:lpstr>
      <vt:lpstr>Arial</vt:lpstr>
      <vt:lpstr>Libre Baskerville</vt:lpstr>
      <vt:lpstr>Cambria Math</vt:lpstr>
      <vt:lpstr>Source Sans 3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archie</dc:creator>
  <cp:lastModifiedBy>HEADLAND, ARCHIE G. (Student)</cp:lastModifiedBy>
  <cp:revision>67</cp:revision>
  <dcterms:created xsi:type="dcterms:W3CDTF">2013-10-23T18:28:44Z</dcterms:created>
  <dcterms:modified xsi:type="dcterms:W3CDTF">2025-12-16T00:11:29Z</dcterms:modified>
</cp:coreProperties>
</file>